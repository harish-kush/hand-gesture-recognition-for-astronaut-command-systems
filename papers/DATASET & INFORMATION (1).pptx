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2"/>
  </p:notesMasterIdLst>
  <p:handoutMasterIdLst>
    <p:handoutMasterId r:id="rId13"/>
  </p:handoutMasterIdLst>
  <p:sldIdLst>
    <p:sldId id="410" r:id="rId5"/>
    <p:sldId id="383" r:id="rId6"/>
    <p:sldId id="391" r:id="rId7"/>
    <p:sldId id="397" r:id="rId8"/>
    <p:sldId id="411" r:id="rId9"/>
    <p:sldId id="413" r:id="rId10"/>
    <p:sldId id="41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6327" autoAdjust="0"/>
  </p:normalViewPr>
  <p:slideViewPr>
    <p:cSldViewPr snapToGrid="0">
      <p:cViewPr varScale="1">
        <p:scale>
          <a:sx n="96" d="100"/>
          <a:sy n="96" d="100"/>
        </p:scale>
        <p:origin x="86" y="10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5/18/2026</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5/18/2026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3964F-5019-A5B4-EC10-E173BC72A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4582F-2C93-4D81-A767-BAF496ED7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24528-3073-FC8A-618F-E98CE03187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798CF0-2753-F99C-24A9-41A94B331E5D}"/>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795293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5D3F6-CA7F-22AD-8500-1C229740B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A1130-E447-8369-3E70-B4337EB1E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BCD33-059D-098C-5DEC-609E46A931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C87443-024D-F872-C8F6-1F1B4CB5D5AD}"/>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1170013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grassknoted/asl-alphabet?utm_source=chatgpt.com"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hyperlink" Target="https://gibranbenitez.github.io/IPN_Hand/"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kapitanov/hagrid?utm_source=chatgpt.com"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datasets/sanjanatg26/20bn-jester-v1-complete?utm_source=chatgpt.com"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dirty="0"/>
              <a:t>DATASET &amp; INFORMATION</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TYPES OF DATASET </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lstStyle/>
          <a:p>
            <a:r>
              <a:rPr lang="en-IN" dirty="0"/>
              <a:t> ASL-HG (American Sign Language Hand Gesture Dataset)</a:t>
            </a:r>
            <a:endParaRPr lang="en-US" dirty="0"/>
          </a:p>
          <a:p>
            <a:r>
              <a:rPr lang="en-IN" dirty="0"/>
              <a:t>IPN Hand (Video Gesture Dataset)</a:t>
            </a:r>
          </a:p>
          <a:p>
            <a:r>
              <a:rPr lang="en-IN" dirty="0"/>
              <a:t>HaGRID</a:t>
            </a:r>
          </a:p>
          <a:p>
            <a:r>
              <a:rPr lang="en-IN" dirty="0"/>
              <a:t>20BN-Jester (Video Dataset)</a:t>
            </a:r>
          </a:p>
          <a:p>
            <a:r>
              <a:rPr lang="en-IN" dirty="0"/>
              <a:t>Comparison &amp; which dataset is aligned to project </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292210" y="176346"/>
            <a:ext cx="10873740" cy="1680205"/>
          </a:xfrm>
        </p:spPr>
        <p:txBody>
          <a:bodyPr/>
          <a:lstStyle/>
          <a:p>
            <a:r>
              <a:rPr lang="en-IN" sz="1800" dirty="0"/>
              <a:t>ASL-HG: American Sign Language Hand Gesture Image Dataset</a:t>
            </a:r>
            <a:br>
              <a:rPr lang="en-IN" dirty="0"/>
            </a:br>
            <a:endParaRPr lang="en-US" dirty="0"/>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rmAutofit/>
          </a:bodyPr>
          <a:lstStyle/>
          <a:p>
            <a:r>
              <a:rPr lang="en-US" sz="1600" dirty="0"/>
              <a:t>This dataset provides a comprehensive collection of American Sign Language (ASL) hand gesture images designed to support research in gesture recognition, computer vision, deep learning, and assistive communication technologies. The dataset consists of 36,000 high-resolution JPG images across 36 ASL classes, covering the full English alphabet (A–Z) and digits (0–9).</a:t>
            </a:r>
          </a:p>
          <a:p>
            <a:pPr fontAlgn="base"/>
            <a:r>
              <a:rPr lang="en-US" sz="1500" dirty="0"/>
              <a:t>The training data set contains 87,000 images which are 200x200 pixels. There are 29 classes, of which 26 are for the letters A-Z and 3 classes for </a:t>
            </a:r>
            <a:r>
              <a:rPr lang="en-US" sz="1500" i="1" dirty="0"/>
              <a:t>SPACE</a:t>
            </a:r>
            <a:r>
              <a:rPr lang="en-US" sz="1500" dirty="0"/>
              <a:t>, </a:t>
            </a:r>
            <a:r>
              <a:rPr lang="en-US" sz="1500" i="1" dirty="0"/>
              <a:t>DELETE</a:t>
            </a:r>
            <a:r>
              <a:rPr lang="en-US" sz="1500" dirty="0"/>
              <a:t> and </a:t>
            </a:r>
            <a:r>
              <a:rPr lang="en-US" sz="1500" i="1" dirty="0"/>
              <a:t>NOTHING</a:t>
            </a:r>
            <a:r>
              <a:rPr lang="en-US" sz="1500" dirty="0"/>
              <a:t>.</a:t>
            </a:r>
            <a:br>
              <a:rPr lang="en-US" sz="1500" dirty="0"/>
            </a:br>
            <a:r>
              <a:rPr lang="en-US" sz="1500" dirty="0"/>
              <a:t>These 3 classes are very helpful in real-time applications, and classification.</a:t>
            </a:r>
            <a:br>
              <a:rPr lang="en-US" sz="1500" dirty="0"/>
            </a:br>
            <a:r>
              <a:rPr lang="en-US" sz="1500" dirty="0"/>
              <a:t>The test data set contains a mere 29 images, to encourage the use of real-world test images.</a:t>
            </a:r>
          </a:p>
          <a:p>
            <a:br>
              <a:rPr lang="en-US" sz="1600" dirty="0"/>
            </a:br>
            <a:r>
              <a:rPr lang="en-US" sz="1600" dirty="0"/>
              <a:t>download-link;</a:t>
            </a:r>
            <a:r>
              <a:rPr lang="en-IN" sz="1600" dirty="0">
                <a:hlinkClick r:id="rId3"/>
              </a:rPr>
              <a:t> ASL Alphabet</a:t>
            </a:r>
            <a:endParaRPr lang="en-US" sz="1600"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ctrTitle"/>
          </p:nvPr>
        </p:nvSpPr>
        <p:spPr>
          <a:xfrm>
            <a:off x="1288111" y="411479"/>
            <a:ext cx="3077155" cy="1170831"/>
          </a:xfrm>
        </p:spPr>
        <p:txBody>
          <a:bodyPr/>
          <a:lstStyle/>
          <a:p>
            <a:r>
              <a:rPr lang="en-IN" sz="2000" dirty="0"/>
              <a:t>          IPN Hand Dataset</a:t>
            </a:r>
            <a:br>
              <a:rPr lang="en-IN" dirty="0"/>
            </a:br>
            <a:endParaRPr lang="en-US" dirty="0"/>
          </a:p>
        </p:txBody>
      </p:sp>
      <p:sp>
        <p:nvSpPr>
          <p:cNvPr id="3" name="Text Placeholder 2">
            <a:extLst>
              <a:ext uri="{FF2B5EF4-FFF2-40B4-BE49-F238E27FC236}">
                <a16:creationId xmlns:a16="http://schemas.microsoft.com/office/drawing/2014/main" id="{591442CD-A26D-1761-8CE7-8BC3075BB4ED}"/>
              </a:ext>
            </a:extLst>
          </p:cNvPr>
          <p:cNvSpPr>
            <a:spLocks noGrp="1"/>
          </p:cNvSpPr>
          <p:nvPr>
            <p:ph type="body" sz="quarter" idx="11"/>
          </p:nvPr>
        </p:nvSpPr>
        <p:spPr>
          <a:xfrm>
            <a:off x="2663687" y="1296063"/>
            <a:ext cx="9132618" cy="4899409"/>
          </a:xfrm>
        </p:spPr>
        <p:txBody>
          <a:bodyPr>
            <a:normAutofit/>
          </a:bodyPr>
          <a:lstStyle/>
          <a:p>
            <a:r>
              <a:rPr lang="en-US" b="0" dirty="0">
                <a:solidFill>
                  <a:schemeClr val="bg1"/>
                </a:solidFill>
              </a:rPr>
              <a:t>The </a:t>
            </a:r>
            <a:r>
              <a:rPr lang="en-US" dirty="0">
                <a:solidFill>
                  <a:schemeClr val="bg1"/>
                </a:solidFill>
              </a:rPr>
              <a:t>IPN Hand Dataset</a:t>
            </a:r>
            <a:r>
              <a:rPr lang="en-US" b="0" dirty="0">
                <a:solidFill>
                  <a:schemeClr val="bg1"/>
                </a:solidFill>
              </a:rPr>
              <a:t> is a benchmark dataset for dynamic hand gesture recognition, created to support research in human–computer interaction and sign language understanding. It provides high-quality RGB videos of natural hand movements, focusing on gesture sequences rather than static poses.</a:t>
            </a:r>
          </a:p>
          <a:p>
            <a:r>
              <a:rPr lang="en-IN" dirty="0">
                <a:solidFill>
                  <a:schemeClr val="bg1"/>
                </a:solidFill>
              </a:rPr>
              <a:t>Key facts</a:t>
            </a:r>
          </a:p>
          <a:p>
            <a:r>
              <a:rPr lang="en-IN" dirty="0">
                <a:solidFill>
                  <a:schemeClr val="bg1"/>
                </a:solidFill>
              </a:rPr>
              <a:t>Domain:</a:t>
            </a:r>
            <a:r>
              <a:rPr lang="en-IN" b="0" dirty="0">
                <a:solidFill>
                  <a:schemeClr val="bg1"/>
                </a:solidFill>
              </a:rPr>
              <a:t> Dynamic hand gesture recognition</a:t>
            </a:r>
          </a:p>
          <a:p>
            <a:r>
              <a:rPr lang="en-IN" dirty="0">
                <a:solidFill>
                  <a:schemeClr val="bg1"/>
                </a:solidFill>
              </a:rPr>
              <a:t>Released by:</a:t>
            </a:r>
            <a:r>
              <a:rPr lang="en-IN" b="0" dirty="0">
                <a:solidFill>
                  <a:schemeClr val="bg1"/>
                </a:solidFill>
              </a:rPr>
              <a:t> Instituto Politécnico Nacional (IPN), Mexico</a:t>
            </a:r>
          </a:p>
          <a:p>
            <a:r>
              <a:rPr lang="en-IN" dirty="0">
                <a:solidFill>
                  <a:schemeClr val="bg1"/>
                </a:solidFill>
              </a:rPr>
              <a:t>Modality:</a:t>
            </a:r>
            <a:r>
              <a:rPr lang="en-IN" b="0" dirty="0">
                <a:solidFill>
                  <a:schemeClr val="bg1"/>
                </a:solidFill>
              </a:rPr>
              <a:t> RGB video (with frame-level gesture annotations)</a:t>
            </a:r>
          </a:p>
          <a:p>
            <a:r>
              <a:rPr lang="en-IN" dirty="0">
                <a:solidFill>
                  <a:schemeClr val="bg1"/>
                </a:solidFill>
              </a:rPr>
              <a:t>Number of subjects:</a:t>
            </a:r>
            <a:r>
              <a:rPr lang="en-IN" b="0" dirty="0">
                <a:solidFill>
                  <a:schemeClr val="bg1"/>
                </a:solidFill>
              </a:rPr>
              <a:t> 50 participants</a:t>
            </a:r>
          </a:p>
          <a:p>
            <a:r>
              <a:rPr lang="en-IN" dirty="0">
                <a:solidFill>
                  <a:schemeClr val="bg1"/>
                </a:solidFill>
              </a:rPr>
              <a:t>Total clips:</a:t>
            </a:r>
            <a:r>
              <a:rPr lang="en-IN" b="0" dirty="0">
                <a:solidFill>
                  <a:schemeClr val="bg1"/>
                </a:solidFill>
              </a:rPr>
              <a:t> Over 4,000 gesture samples</a:t>
            </a:r>
          </a:p>
          <a:p>
            <a:r>
              <a:rPr lang="en-US" dirty="0" err="1">
                <a:solidFill>
                  <a:schemeClr val="bg1"/>
                </a:solidFill>
              </a:rPr>
              <a:t>Download_link</a:t>
            </a:r>
            <a:r>
              <a:rPr lang="en-US" dirty="0">
                <a:solidFill>
                  <a:schemeClr val="bg1"/>
                </a:solidFill>
              </a:rPr>
              <a:t>:</a:t>
            </a:r>
            <a:r>
              <a:rPr lang="en-IN" dirty="0">
                <a:solidFill>
                  <a:schemeClr val="bg1"/>
                </a:solidFill>
                <a:hlinkClick r:id="rId3">
                  <a:extLst>
                    <a:ext uri="{A12FA001-AC4F-418D-AE19-62706E023703}">
                      <ahyp:hlinkClr xmlns:ahyp="http://schemas.microsoft.com/office/drawing/2018/hyperlinkcolor" val="tx"/>
                    </a:ext>
                  </a:extLst>
                </a:hlinkClick>
              </a:rPr>
              <a:t>The IPN Hand Dataset | IPN Hand</a:t>
            </a:r>
            <a:endParaRPr lang="en-US" dirty="0">
              <a:solidFill>
                <a:schemeClr val="bg1"/>
              </a:solidFill>
            </a:endParaRPr>
          </a:p>
          <a:p>
            <a:endParaRPr lang="en-US" dirty="0"/>
          </a:p>
        </p:txBody>
      </p:sp>
    </p:spTree>
    <p:extLst>
      <p:ext uri="{BB962C8B-B14F-4D97-AF65-F5344CB8AC3E}">
        <p14:creationId xmlns:p14="http://schemas.microsoft.com/office/powerpoint/2010/main" val="2039059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1D270-6223-9884-4772-D62AD25FD67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06BF8C5-E9B1-5B48-A7DF-11085BFF2CEE}"/>
              </a:ext>
            </a:extLst>
          </p:cNvPr>
          <p:cNvSpPr>
            <a:spLocks noGrp="1"/>
          </p:cNvSpPr>
          <p:nvPr>
            <p:ph type="ctrTitle"/>
          </p:nvPr>
        </p:nvSpPr>
        <p:spPr>
          <a:xfrm>
            <a:off x="1288110" y="411480"/>
            <a:ext cx="7211833" cy="606288"/>
          </a:xfrm>
        </p:spPr>
        <p:txBody>
          <a:bodyPr/>
          <a:lstStyle/>
          <a:p>
            <a:r>
              <a:rPr lang="en-IN" sz="2000" dirty="0"/>
              <a:t>          </a:t>
            </a:r>
            <a:r>
              <a:rPr lang="en-IN" sz="2000" dirty="0" err="1"/>
              <a:t>HaGRID</a:t>
            </a:r>
            <a:r>
              <a:rPr lang="en-IN" sz="2000" dirty="0"/>
              <a:t>- </a:t>
            </a:r>
            <a:r>
              <a:rPr lang="en-IN" sz="2000" dirty="0" err="1"/>
              <a:t>HAnd</a:t>
            </a:r>
            <a:r>
              <a:rPr lang="en-IN" sz="2000" dirty="0"/>
              <a:t> Gesture Recognition Image Dataset </a:t>
            </a:r>
            <a:br>
              <a:rPr lang="en-IN" sz="2000" dirty="0"/>
            </a:br>
            <a:endParaRPr lang="en-US" sz="2000" dirty="0"/>
          </a:p>
        </p:txBody>
      </p:sp>
      <p:sp>
        <p:nvSpPr>
          <p:cNvPr id="3" name="Text Placeholder 2">
            <a:extLst>
              <a:ext uri="{FF2B5EF4-FFF2-40B4-BE49-F238E27FC236}">
                <a16:creationId xmlns:a16="http://schemas.microsoft.com/office/drawing/2014/main" id="{C2C850AE-4C6C-C310-92E2-4C1024C464C2}"/>
              </a:ext>
            </a:extLst>
          </p:cNvPr>
          <p:cNvSpPr>
            <a:spLocks noGrp="1"/>
          </p:cNvSpPr>
          <p:nvPr>
            <p:ph type="body" sz="quarter" idx="11"/>
          </p:nvPr>
        </p:nvSpPr>
        <p:spPr>
          <a:xfrm>
            <a:off x="2623930" y="1017768"/>
            <a:ext cx="9172375" cy="2886322"/>
          </a:xfrm>
        </p:spPr>
        <p:txBody>
          <a:bodyPr>
            <a:normAutofit lnSpcReduction="10000"/>
          </a:bodyPr>
          <a:lstStyle/>
          <a:p>
            <a:r>
              <a:rPr lang="en-US" sz="2000" b="0" dirty="0">
                <a:solidFill>
                  <a:schemeClr val="bg1"/>
                </a:solidFill>
              </a:rPr>
              <a:t>The </a:t>
            </a:r>
            <a:r>
              <a:rPr lang="en-US" sz="2000" b="0" dirty="0" err="1">
                <a:solidFill>
                  <a:schemeClr val="bg1"/>
                </a:solidFill>
              </a:rPr>
              <a:t>HAnd</a:t>
            </a:r>
            <a:r>
              <a:rPr lang="en-US" sz="2000" b="0" dirty="0">
                <a:solidFill>
                  <a:schemeClr val="bg1"/>
                </a:solidFill>
              </a:rPr>
              <a:t> Gesture Recognition Image Dataset (</a:t>
            </a:r>
            <a:r>
              <a:rPr lang="en-US" sz="2000" b="0" dirty="0" err="1">
                <a:solidFill>
                  <a:schemeClr val="bg1"/>
                </a:solidFill>
              </a:rPr>
              <a:t>HaGRID</a:t>
            </a:r>
            <a:r>
              <a:rPr lang="en-US" sz="2000" b="0" dirty="0">
                <a:solidFill>
                  <a:schemeClr val="bg1"/>
                </a:solidFill>
              </a:rPr>
              <a:t>) is a large-scale visual dataset designed for training and evaluating computer vision systems that recognize static hand gestures.</a:t>
            </a:r>
          </a:p>
          <a:p>
            <a:r>
              <a:rPr lang="en-US" sz="2000" b="0" dirty="0">
                <a:solidFill>
                  <a:schemeClr val="bg1"/>
                </a:solidFill>
              </a:rPr>
              <a:t> It supports research in gesture-based interfaces, sign-language interpretation, and human–computer interaction using deep learning methods.</a:t>
            </a:r>
            <a:r>
              <a:rPr lang="en-US" sz="2000" b="0" dirty="0"/>
              <a:t> The dataset </a:t>
            </a:r>
            <a:r>
              <a:rPr lang="en-US" sz="2000" b="0" dirty="0">
                <a:solidFill>
                  <a:schemeClr val="bg1"/>
                </a:solidFill>
              </a:rPr>
              <a:t>enables supervised learning for hand gesture classification tasks in computer vision. Common applications include controlling devices through gestures, interpreting sign-language components, and developing touchless user interfaces. </a:t>
            </a:r>
            <a:r>
              <a:rPr lang="en-US" sz="2000" b="0" dirty="0" err="1">
                <a:solidFill>
                  <a:schemeClr val="bg1"/>
                </a:solidFill>
              </a:rPr>
              <a:t>HaGRID’s</a:t>
            </a:r>
            <a:r>
              <a:rPr lang="en-US" sz="2000" b="0" dirty="0">
                <a:solidFill>
                  <a:schemeClr val="bg1"/>
                </a:solidFill>
              </a:rPr>
              <a:t> scale and diversity make it valuable for pretraining convolutional and transformer-based architectures.</a:t>
            </a:r>
            <a:endParaRPr lang="en-US" sz="2000" dirty="0">
              <a:solidFill>
                <a:schemeClr val="bg1"/>
              </a:solidFill>
            </a:endParaRPr>
          </a:p>
          <a:p>
            <a:r>
              <a:rPr lang="en-IN" sz="2000" dirty="0"/>
              <a:t>Common Gesture </a:t>
            </a:r>
            <a:r>
              <a:rPr lang="en-IN" sz="2000" dirty="0" err="1"/>
              <a:t>Classes</a:t>
            </a:r>
            <a:r>
              <a:rPr lang="en-IN" sz="1600" dirty="0" err="1"/>
              <a:t>:palm</a:t>
            </a:r>
            <a:r>
              <a:rPr lang="en-IN" sz="1600" dirty="0"/>
              <a:t>, </a:t>
            </a:r>
            <a:r>
              <a:rPr lang="en-IN" sz="1600" dirty="0" err="1"/>
              <a:t>like,rock</a:t>
            </a:r>
            <a:r>
              <a:rPr lang="en-IN" sz="1600" dirty="0"/>
              <a:t>, </a:t>
            </a:r>
            <a:r>
              <a:rPr lang="en-IN" sz="1600" dirty="0" err="1"/>
              <a:t>stop,peace</a:t>
            </a:r>
            <a:r>
              <a:rPr lang="en-IN" sz="1600" dirty="0"/>
              <a:t>, one/two/three</a:t>
            </a:r>
          </a:p>
          <a:p>
            <a:endParaRPr lang="en-IN" sz="1600" dirty="0"/>
          </a:p>
          <a:p>
            <a:endParaRPr lang="en-IN" sz="1600" dirty="0"/>
          </a:p>
          <a:p>
            <a:endParaRPr lang="en-IN" sz="1600" dirty="0"/>
          </a:p>
          <a:p>
            <a:endParaRPr lang="en-IN" sz="1600" dirty="0"/>
          </a:p>
          <a:p>
            <a:endParaRPr lang="en-US" sz="1600" dirty="0">
              <a:solidFill>
                <a:schemeClr val="bg1"/>
              </a:solidFill>
            </a:endParaRPr>
          </a:p>
          <a:p>
            <a:endParaRPr lang="en-US" sz="1600" dirty="0">
              <a:solidFill>
                <a:schemeClr val="bg1"/>
              </a:solidFill>
            </a:endParaRPr>
          </a:p>
          <a:p>
            <a:endParaRPr lang="en-US" sz="1600" dirty="0">
              <a:solidFill>
                <a:schemeClr val="bg1"/>
              </a:solidFill>
            </a:endParaRPr>
          </a:p>
          <a:p>
            <a:endParaRPr lang="en-US" dirty="0"/>
          </a:p>
        </p:txBody>
      </p:sp>
      <p:sp>
        <p:nvSpPr>
          <p:cNvPr id="5" name="TextBox 4">
            <a:extLst>
              <a:ext uri="{FF2B5EF4-FFF2-40B4-BE49-F238E27FC236}">
                <a16:creationId xmlns:a16="http://schemas.microsoft.com/office/drawing/2014/main" id="{08706BBA-027F-4466-AD9B-D3AFBC36FD7A}"/>
              </a:ext>
            </a:extLst>
          </p:cNvPr>
          <p:cNvSpPr txBox="1"/>
          <p:nvPr/>
        </p:nvSpPr>
        <p:spPr>
          <a:xfrm>
            <a:off x="2878372" y="4631635"/>
            <a:ext cx="7339054" cy="369332"/>
          </a:xfrm>
          <a:prstGeom prst="rect">
            <a:avLst/>
          </a:prstGeom>
          <a:noFill/>
        </p:spPr>
        <p:txBody>
          <a:bodyPr wrap="square" rtlCol="0">
            <a:spAutoFit/>
          </a:bodyPr>
          <a:lstStyle/>
          <a:p>
            <a:r>
              <a:rPr lang="en-IN" dirty="0">
                <a:solidFill>
                  <a:srgbClr val="4495A2"/>
                </a:solidFill>
                <a:hlinkClick r:id="rId3">
                  <a:extLst>
                    <a:ext uri="{A12FA001-AC4F-418D-AE19-62706E023703}">
                      <ahyp:hlinkClr xmlns:ahyp="http://schemas.microsoft.com/office/drawing/2018/hyperlinkcolor" val="tx"/>
                    </a:ext>
                  </a:extLst>
                </a:hlinkClick>
              </a:rPr>
              <a:t> </a:t>
            </a:r>
            <a:r>
              <a:rPr lang="en-IN" dirty="0">
                <a:solidFill>
                  <a:schemeClr val="bg1"/>
                </a:solidFill>
                <a:hlinkClick r:id="rId3">
                  <a:extLst>
                    <a:ext uri="{A12FA001-AC4F-418D-AE19-62706E023703}">
                      <ahyp:hlinkClr xmlns:ahyp="http://schemas.microsoft.com/office/drawing/2018/hyperlinkcolor" val="tx"/>
                    </a:ext>
                  </a:extLst>
                </a:hlinkClick>
              </a:rPr>
              <a:t>download-link: </a:t>
            </a:r>
            <a:r>
              <a:rPr lang="en-IN" dirty="0" err="1">
                <a:solidFill>
                  <a:schemeClr val="bg1"/>
                </a:solidFill>
                <a:hlinkClick r:id="rId3">
                  <a:extLst>
                    <a:ext uri="{A12FA001-AC4F-418D-AE19-62706E023703}">
                      <ahyp:hlinkClr xmlns:ahyp="http://schemas.microsoft.com/office/drawing/2018/hyperlinkcolor" val="tx"/>
                    </a:ext>
                  </a:extLst>
                </a:hlinkClick>
              </a:rPr>
              <a:t>HaGRID</a:t>
            </a:r>
            <a:r>
              <a:rPr lang="en-IN" dirty="0">
                <a:solidFill>
                  <a:schemeClr val="bg1"/>
                </a:solidFill>
                <a:hlinkClick r:id="rId3">
                  <a:extLst>
                    <a:ext uri="{A12FA001-AC4F-418D-AE19-62706E023703}">
                      <ahyp:hlinkClr xmlns:ahyp="http://schemas.microsoft.com/office/drawing/2018/hyperlinkcolor" val="tx"/>
                    </a:ext>
                  </a:extLst>
                </a:hlinkClick>
              </a:rPr>
              <a:t> - </a:t>
            </a:r>
            <a:r>
              <a:rPr lang="en-IN" dirty="0" err="1">
                <a:solidFill>
                  <a:schemeClr val="bg1"/>
                </a:solidFill>
                <a:hlinkClick r:id="rId3">
                  <a:extLst>
                    <a:ext uri="{A12FA001-AC4F-418D-AE19-62706E023703}">
                      <ahyp:hlinkClr xmlns:ahyp="http://schemas.microsoft.com/office/drawing/2018/hyperlinkcolor" val="tx"/>
                    </a:ext>
                  </a:extLst>
                </a:hlinkClick>
              </a:rPr>
              <a:t>HAnd</a:t>
            </a:r>
            <a:r>
              <a:rPr lang="en-IN" dirty="0">
                <a:solidFill>
                  <a:schemeClr val="bg1"/>
                </a:solidFill>
                <a:hlinkClick r:id="rId3">
                  <a:extLst>
                    <a:ext uri="{A12FA001-AC4F-418D-AE19-62706E023703}">
                      <ahyp:hlinkClr xmlns:ahyp="http://schemas.microsoft.com/office/drawing/2018/hyperlinkcolor" val="tx"/>
                    </a:ext>
                  </a:extLst>
                </a:hlinkClick>
              </a:rPr>
              <a:t> Gesture Recognition Image Dataset</a:t>
            </a:r>
            <a:endParaRPr lang="en-IN" dirty="0">
              <a:solidFill>
                <a:schemeClr val="bg1"/>
              </a:solidFill>
            </a:endParaRPr>
          </a:p>
        </p:txBody>
      </p:sp>
    </p:spTree>
    <p:extLst>
      <p:ext uri="{BB962C8B-B14F-4D97-AF65-F5344CB8AC3E}">
        <p14:creationId xmlns:p14="http://schemas.microsoft.com/office/powerpoint/2010/main" val="146422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1B8A6-2236-F993-8A4F-753331AD758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EF1812E-E713-514A-B29B-49CDC834C8AC}"/>
              </a:ext>
            </a:extLst>
          </p:cNvPr>
          <p:cNvSpPr>
            <a:spLocks noGrp="1"/>
          </p:cNvSpPr>
          <p:nvPr>
            <p:ph type="ctrTitle"/>
          </p:nvPr>
        </p:nvSpPr>
        <p:spPr>
          <a:xfrm>
            <a:off x="1288110" y="411480"/>
            <a:ext cx="7211833" cy="606288"/>
          </a:xfrm>
        </p:spPr>
        <p:txBody>
          <a:bodyPr/>
          <a:lstStyle/>
          <a:p>
            <a:r>
              <a:rPr lang="en-IN" sz="2000" dirty="0"/>
              <a:t>20BN-Jester: dynamic hand gesture recognition dataset</a:t>
            </a:r>
            <a:endParaRPr lang="en-US" sz="2000" dirty="0"/>
          </a:p>
        </p:txBody>
      </p:sp>
      <p:sp>
        <p:nvSpPr>
          <p:cNvPr id="3" name="Text Placeholder 2">
            <a:extLst>
              <a:ext uri="{FF2B5EF4-FFF2-40B4-BE49-F238E27FC236}">
                <a16:creationId xmlns:a16="http://schemas.microsoft.com/office/drawing/2014/main" id="{E11BB311-F718-FCA9-3D9E-25860413FB35}"/>
              </a:ext>
            </a:extLst>
          </p:cNvPr>
          <p:cNvSpPr>
            <a:spLocks noGrp="1"/>
          </p:cNvSpPr>
          <p:nvPr>
            <p:ph type="body" sz="quarter" idx="11"/>
          </p:nvPr>
        </p:nvSpPr>
        <p:spPr>
          <a:xfrm>
            <a:off x="2623930" y="1017768"/>
            <a:ext cx="9172375" cy="2886322"/>
          </a:xfrm>
        </p:spPr>
        <p:txBody>
          <a:bodyPr>
            <a:normAutofit/>
          </a:bodyPr>
          <a:lstStyle/>
          <a:p>
            <a:endParaRPr lang="en-IN" sz="1600" dirty="0"/>
          </a:p>
          <a:p>
            <a:r>
              <a:rPr lang="en-US" b="0" dirty="0">
                <a:solidFill>
                  <a:schemeClr val="bg1"/>
                </a:solidFill>
              </a:rPr>
              <a:t>The </a:t>
            </a:r>
            <a:r>
              <a:rPr lang="en-US" dirty="0">
                <a:solidFill>
                  <a:schemeClr val="bg1"/>
                </a:solidFill>
              </a:rPr>
              <a:t>20BN-Jester</a:t>
            </a:r>
            <a:r>
              <a:rPr lang="en-US" b="0" dirty="0">
                <a:solidFill>
                  <a:schemeClr val="bg1"/>
                </a:solidFill>
              </a:rPr>
              <a:t> dataset is a large-scale video collection designed for recognizing dynamic hand gestures. Created by the Twenty Billion Neurons (20BN) research group, it provides short clips of people performing simple movements in front of a camera, serving as a benchmark for gesture recognition and video-based action classification models.</a:t>
            </a:r>
          </a:p>
          <a:p>
            <a:endParaRPr lang="en-US" b="0" dirty="0">
              <a:solidFill>
                <a:schemeClr val="bg1"/>
              </a:solidFill>
            </a:endParaRPr>
          </a:p>
          <a:p>
            <a:endParaRPr lang="en-US" b="0" dirty="0">
              <a:solidFill>
                <a:schemeClr val="bg1"/>
              </a:solidFill>
            </a:endParaRPr>
          </a:p>
          <a:p>
            <a:endParaRPr lang="en-IN" sz="1600" dirty="0">
              <a:solidFill>
                <a:schemeClr val="bg1"/>
              </a:solidFill>
            </a:endParaRPr>
          </a:p>
          <a:p>
            <a:endParaRPr lang="en-IN" sz="1600" dirty="0"/>
          </a:p>
          <a:p>
            <a:endParaRPr lang="en-US" sz="1600" dirty="0">
              <a:solidFill>
                <a:schemeClr val="bg1"/>
              </a:solidFill>
            </a:endParaRPr>
          </a:p>
          <a:p>
            <a:endParaRPr lang="en-US" sz="1600" dirty="0">
              <a:solidFill>
                <a:schemeClr val="bg1"/>
              </a:solidFill>
            </a:endParaRPr>
          </a:p>
          <a:p>
            <a:endParaRPr lang="en-US" sz="1600" dirty="0">
              <a:solidFill>
                <a:schemeClr val="bg1"/>
              </a:solidFill>
            </a:endParaRPr>
          </a:p>
          <a:p>
            <a:endParaRPr lang="en-US" dirty="0"/>
          </a:p>
        </p:txBody>
      </p:sp>
      <p:sp>
        <p:nvSpPr>
          <p:cNvPr id="5" name="TextBox 4">
            <a:extLst>
              <a:ext uri="{FF2B5EF4-FFF2-40B4-BE49-F238E27FC236}">
                <a16:creationId xmlns:a16="http://schemas.microsoft.com/office/drawing/2014/main" id="{193DD7BF-4B3E-3881-38E5-B8A0ACAB6858}"/>
              </a:ext>
            </a:extLst>
          </p:cNvPr>
          <p:cNvSpPr txBox="1"/>
          <p:nvPr/>
        </p:nvSpPr>
        <p:spPr>
          <a:xfrm>
            <a:off x="2759102" y="3367377"/>
            <a:ext cx="7339054" cy="369332"/>
          </a:xfrm>
          <a:prstGeom prst="rect">
            <a:avLst/>
          </a:prstGeom>
          <a:noFill/>
        </p:spPr>
        <p:txBody>
          <a:bodyPr wrap="square" rtlCol="0">
            <a:spAutoFit/>
          </a:bodyPr>
          <a:lstStyle/>
          <a:p>
            <a:r>
              <a:rPr lang="en-IN" dirty="0">
                <a:solidFill>
                  <a:schemeClr val="bg1"/>
                </a:solidFill>
              </a:rPr>
              <a:t>Download link:</a:t>
            </a:r>
            <a:r>
              <a:rPr lang="en-IN" dirty="0">
                <a:hlinkClick r:id="rId3"/>
              </a:rPr>
              <a:t> 20bn-jester-v1-complete</a:t>
            </a:r>
            <a:endParaRPr lang="en-IN" dirty="0">
              <a:solidFill>
                <a:schemeClr val="bg1"/>
              </a:solidFill>
            </a:endParaRPr>
          </a:p>
        </p:txBody>
      </p:sp>
      <p:sp>
        <p:nvSpPr>
          <p:cNvPr id="7" name="TextBox 6">
            <a:extLst>
              <a:ext uri="{FF2B5EF4-FFF2-40B4-BE49-F238E27FC236}">
                <a16:creationId xmlns:a16="http://schemas.microsoft.com/office/drawing/2014/main" id="{71F2DCB5-5A67-4BB1-8D65-1F226DC83F55}"/>
              </a:ext>
            </a:extLst>
          </p:cNvPr>
          <p:cNvSpPr txBox="1"/>
          <p:nvPr/>
        </p:nvSpPr>
        <p:spPr>
          <a:xfrm>
            <a:off x="2918129" y="3904090"/>
            <a:ext cx="5064981" cy="2031325"/>
          </a:xfrm>
          <a:prstGeom prst="rect">
            <a:avLst/>
          </a:prstGeom>
          <a:noFill/>
        </p:spPr>
        <p:txBody>
          <a:bodyPr wrap="square" rtlCol="0">
            <a:spAutoFit/>
          </a:bodyPr>
          <a:lstStyle/>
          <a:p>
            <a:r>
              <a:rPr lang="en-IN" b="1" dirty="0">
                <a:solidFill>
                  <a:schemeClr val="bg1"/>
                </a:solidFill>
              </a:rPr>
              <a:t>Common gesture classes</a:t>
            </a:r>
          </a:p>
          <a:p>
            <a:r>
              <a:rPr lang="en-IN" b="1" dirty="0">
                <a:solidFill>
                  <a:schemeClr val="bg1"/>
                </a:solidFill>
              </a:rPr>
              <a:t>Swiping left/right</a:t>
            </a:r>
          </a:p>
          <a:p>
            <a:r>
              <a:rPr lang="en-IN" b="1" dirty="0">
                <a:solidFill>
                  <a:schemeClr val="bg1"/>
                </a:solidFill>
              </a:rPr>
              <a:t>Pushing hand away, pulling hand In</a:t>
            </a:r>
          </a:p>
          <a:p>
            <a:r>
              <a:rPr lang="en-IN" b="1" dirty="0">
                <a:solidFill>
                  <a:schemeClr val="bg1"/>
                </a:solidFill>
              </a:rPr>
              <a:t>Zooming In/out , Stop Sigh </a:t>
            </a:r>
          </a:p>
          <a:p>
            <a:endParaRPr lang="en-IN" dirty="0">
              <a:solidFill>
                <a:schemeClr val="bg1"/>
              </a:solidFill>
            </a:endParaRPr>
          </a:p>
          <a:p>
            <a:endParaRPr lang="en-IN"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451935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2C497-56C7-7C4B-D3BC-7824F1B7E475}"/>
              </a:ext>
            </a:extLst>
          </p:cNvPr>
          <p:cNvSpPr>
            <a:spLocks noGrp="1"/>
          </p:cNvSpPr>
          <p:nvPr>
            <p:ph type="title"/>
          </p:nvPr>
        </p:nvSpPr>
        <p:spPr/>
        <p:txBody>
          <a:bodyPr/>
          <a:lstStyle/>
          <a:p>
            <a:r>
              <a:rPr lang="en-US" sz="1800" dirty="0"/>
              <a:t>Dataset Relevance Analysis for Your Project</a:t>
            </a:r>
            <a:endParaRPr lang="en-IN" sz="1800" dirty="0"/>
          </a:p>
        </p:txBody>
      </p:sp>
      <p:sp>
        <p:nvSpPr>
          <p:cNvPr id="3" name="Content Placeholder 2">
            <a:extLst>
              <a:ext uri="{FF2B5EF4-FFF2-40B4-BE49-F238E27FC236}">
                <a16:creationId xmlns:a16="http://schemas.microsoft.com/office/drawing/2014/main" id="{0EC5BAD8-0183-21CE-BEFE-2E3B46A97B97}"/>
              </a:ext>
            </a:extLst>
          </p:cNvPr>
          <p:cNvSpPr>
            <a:spLocks noGrp="1"/>
          </p:cNvSpPr>
          <p:nvPr>
            <p:ph sz="quarter" idx="13"/>
          </p:nvPr>
        </p:nvSpPr>
        <p:spPr/>
        <p:txBody>
          <a:bodyPr>
            <a:normAutofit/>
          </a:bodyPr>
          <a:lstStyle/>
          <a:p>
            <a:r>
              <a:rPr lang="en-US" sz="1100" dirty="0"/>
              <a:t>ASL gestures are well-structured and semantically meaningful, which maps well to discrete command recognition. However, ASL is designed for </a:t>
            </a:r>
            <a:r>
              <a:rPr lang="en-US" sz="1100" i="1" dirty="0"/>
              <a:t>language communication</a:t>
            </a:r>
            <a:r>
              <a:rPr lang="en-US" sz="1100" dirty="0"/>
              <a:t>, not </a:t>
            </a:r>
            <a:r>
              <a:rPr lang="en-US" sz="1100" i="1" dirty="0"/>
              <a:t>operational commands</a:t>
            </a:r>
            <a:r>
              <a:rPr lang="en-US" sz="1100" dirty="0"/>
              <a:t>. Many gestures are fine-motor and finger-spelling dependent — difficult to execute in space gloves. </a:t>
            </a:r>
          </a:p>
          <a:p>
            <a:r>
              <a:rPr lang="en-IN" sz="1100" dirty="0"/>
              <a:t>IPN Hand — Video Gesture Dataset-</a:t>
            </a:r>
            <a:r>
              <a:rPr lang="en-US" sz="1100" dirty="0"/>
              <a:t>Relevance: High IPN Hand contains 13 dynamic gesture classes captured in continuous video, making it very well-suited for space command scenarios where gestures are sequential and intentional. It supports temporal modeling (great for LSTM encoders), and the dynamic nature aligns with "command trigger" gestures (point, swipe, rotate, etc.). Strongly recommended as a primary training dataset.</a:t>
            </a:r>
          </a:p>
          <a:p>
            <a:r>
              <a:rPr lang="en-IN" sz="1100" dirty="0" err="1"/>
              <a:t>HaGRID</a:t>
            </a:r>
            <a:r>
              <a:rPr lang="en-IN" sz="1100" dirty="0"/>
              <a:t>-</a:t>
            </a:r>
            <a:r>
              <a:rPr lang="en-US" sz="1100" dirty="0"/>
              <a:t>Relevance: High </a:t>
            </a:r>
            <a:r>
              <a:rPr lang="en-US" sz="1100" dirty="0" err="1"/>
              <a:t>HaGRID</a:t>
            </a:r>
            <a:r>
              <a:rPr lang="en-US" sz="1100" dirty="0"/>
              <a:t> is one of the largest and most diverse hand gesture datasets available (~18 gesture classes, diverse subjects and backgrounds). The gesture vocabulary includes clear command-like gestures (thumbs up, stop, pointing, OK, etc.). Its scale makes it ideal for training your deep transfer learner backbone, and its diversity improves generalization. The limitation is that it's static — but for image-classification branch of  fusion model, this is perfect.</a:t>
            </a:r>
          </a:p>
          <a:p>
            <a:r>
              <a:rPr lang="en-IN" sz="1100" dirty="0"/>
              <a:t>20BN-Jester — Video Dataset-</a:t>
            </a:r>
            <a:r>
              <a:rPr lang="en-US" sz="1100" dirty="0"/>
              <a:t>Relevance: High Jester contains dynamic gestures like </a:t>
            </a:r>
            <a:r>
              <a:rPr lang="en-US" sz="1100" i="1" dirty="0"/>
              <a:t>swipe left/right, zoom in/out, stop, thumbs up/down</a:t>
            </a:r>
            <a:r>
              <a:rPr lang="en-US" sz="1100" dirty="0"/>
              <a:t> — these map almost directly to operational commands. It's temporally rich, making it an excellent fit for your LSTM Auto-Encoder component. </a:t>
            </a:r>
            <a:r>
              <a:rPr lang="en-US" sz="1100"/>
              <a:t>It's widely used as a benchmark for gesture-based HCI systems, which is essentially what space command recognition is.</a:t>
            </a:r>
            <a:endParaRPr lang="en-US" sz="1100" dirty="0"/>
          </a:p>
        </p:txBody>
      </p:sp>
    </p:spTree>
    <p:extLst>
      <p:ext uri="{BB962C8B-B14F-4D97-AF65-F5344CB8AC3E}">
        <p14:creationId xmlns:p14="http://schemas.microsoft.com/office/powerpoint/2010/main" val="534076982"/>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841</TotalTime>
  <Words>793</Words>
  <Application>Microsoft Office PowerPoint</Application>
  <PresentationFormat>Widescreen</PresentationFormat>
  <Paragraphs>57</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Franklin Gothic Book</vt:lpstr>
      <vt:lpstr>Franklin Gothic Demi</vt:lpstr>
      <vt:lpstr>Custom</vt:lpstr>
      <vt:lpstr>DATASET &amp; INFORMATION</vt:lpstr>
      <vt:lpstr>TYPES OF DATASET </vt:lpstr>
      <vt:lpstr>ASL-HG: American Sign Language Hand Gesture Image Dataset </vt:lpstr>
      <vt:lpstr>          IPN Hand Dataset </vt:lpstr>
      <vt:lpstr>          HaGRID- HAnd Gesture Recognition Image Dataset  </vt:lpstr>
      <vt:lpstr>20BN-Jester: dynamic hand gesture recognition dataset</vt:lpstr>
      <vt:lpstr>Dataset Relevance Analysis for Your Project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poonam mishra</dc:creator>
  <cp:lastModifiedBy>poonam mishra</cp:lastModifiedBy>
  <cp:revision>2</cp:revision>
  <dcterms:created xsi:type="dcterms:W3CDTF">2026-05-14T18:58:06Z</dcterms:created>
  <dcterms:modified xsi:type="dcterms:W3CDTF">2026-05-18T08:32:40Z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